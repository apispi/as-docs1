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59" r:id="rId6"/>
    <p:sldId id="260" r:id="rId7"/>
    <p:sldId id="270" r:id="rId8"/>
    <p:sldId id="261" r:id="rId9"/>
    <p:sldId id="262" r:id="rId10"/>
    <p:sldId id="267" r:id="rId11"/>
    <p:sldId id="268" r:id="rId12"/>
    <p:sldId id="263" r:id="rId13"/>
    <p:sldId id="271" r:id="rId14"/>
    <p:sldId id="272" r:id="rId15"/>
    <p:sldId id="264" r:id="rId16"/>
    <p:sldId id="265" r:id="rId17"/>
    <p:sldId id="26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7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017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Generic ApiSpi product overview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 T E R P R I S E   A I   G O V E R N A N C 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507254" y="1417320"/>
            <a:ext cx="69509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enterprise control plane for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deploy AI agents with policy enforcement, MCP-aware integration and full auditability across every AI interaction — hosted onshore in Australia.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394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visibility and policy enforcement
</a:t>
            </a:r>
            <a:r>
              <a:rPr lang="en-US" sz="13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AI interaction in your organisation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49640" y="15544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C1810"/>
          </a:solidFill>
          <a:ln w="12700">
            <a:solidFill>
              <a:srgbClr val="3A2F1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Apps · AI Agents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29800" y="23408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49640" y="29260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 LLM Gateway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29800" y="37124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49640" y="42976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C1810"/>
          </a:solidFill>
          <a:ln w="12700">
            <a:solidFill>
              <a:srgbClr val="3A2F1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Tools · MCP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49640" y="5669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Audit · Mask · Route</a:t>
            </a:r>
            <a:endParaRPr 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D86E38-2901-E478-1472-8095189B6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55" y="1679582"/>
            <a:ext cx="509116" cy="572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without guardrails is a governance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are adopting AI faster than controls can keep up. Four risks dominate.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  <a:effectLst>
            <a:outerShdw blurRad="76200" dist="25400" dir="5400000" algn="bl" rotWithShape="0">
              <a:srgbClr val="1C181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3040" y="246888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IP, PII and financial data pasted into public AI tools with zero oversight.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  <a:effectLst>
            <a:outerShdw blurRad="76200" dist="25400" dir="5400000" algn="bl" rotWithShape="0">
              <a:srgbClr val="1C181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178040" y="246888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AI tools proliferating across teams — no visibility into what is being used, or why.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39319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  <a:effectLst>
            <a:outerShdw blurRad="76200" dist="25400" dir="5400000" algn="bl" rotWithShape="0">
              <a:srgbClr val="1C181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51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463040" y="47091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of AI interactions creates exposure across SOC 2, ISO 27001 and privacy obligations.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17920" y="39319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  <a:effectLst>
            <a:outerShdw blurRad="76200" dist="25400" dir="5400000" algn="bl" rotWithShape="0">
              <a:srgbClr val="1C181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2519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drift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7178040" y="47091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policies enforced manually and inconsistently — impossible to scale across thousands of users.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7483237C-C0C8-9840-3188-7DB1A487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plane between your people and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 intercepts every request to any AI model, tool or agent — applying policy, masking data, enforcing limits and logging every interaction before it reaches the model.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5875">
            <a:solidFill>
              <a:srgbClr val="3A2F1D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Apps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94760" y="2560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754880" y="224028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D97706"/>
          </a:solidFill>
          <a:ln w="15875">
            <a:solidFill>
              <a:srgbClr val="D97706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 AI Proxy</a:t>
            </a:r>
            <a:endParaRPr lang="en-US" sz="15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Audit · Mask · Route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0" y="2560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732520" y="224028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5875">
            <a:solidFill>
              <a:srgbClr val="3A2F1D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Models, Tools</a:t>
            </a:r>
            <a:endParaRPr lang="en-US" sz="13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MCP Services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interactions captured — user, prompt, policy decision, model, cost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846320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latency overhead — governance without slowing anyone down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3252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960" y="4846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and policy alerting, with per-team cost accounting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89F639AA-EFDA-6DB4-43D3-AE74CBB6B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n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ApiSpi connects to your enterprise</a:t>
            </a:r>
          </a:p>
        </p:txBody>
      </p:sp>
      <p:sp>
        <p:nvSpPr>
          <p:cNvPr id="3" name="Text"/>
          <p:cNvSpPr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from Microsoft Entra ID, one governed gateway in the middle, and open standards on both sides — no code changes required.</a:t>
            </a:r>
          </a:p>
        </p:txBody>
      </p:sp>
      <p:sp>
        <p:nvSpPr>
          <p:cNvPr id="4" name="Text"/>
          <p:cNvSpPr/>
          <p:nvPr/>
        </p:nvSpPr>
        <p:spPr>
          <a:xfrm>
            <a:off x="493031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ENTERPRISE</a:t>
            </a:r>
          </a:p>
        </p:txBody>
      </p:sp>
      <p:sp>
        <p:nvSpPr>
          <p:cNvPr id="5" name="Text"/>
          <p:cNvSpPr/>
          <p:nvPr/>
        </p:nvSpPr>
        <p:spPr>
          <a:xfrm>
            <a:off x="493031" y="1966000"/>
            <a:ext cx="3017520" cy="82296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teams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Entra ID SSO</a:t>
            </a:r>
          </a:p>
        </p:txBody>
      </p:sp>
      <p:sp>
        <p:nvSpPr>
          <p:cNvPr id="6" name="Text"/>
          <p:cNvSpPr/>
          <p:nvPr/>
        </p:nvSpPr>
        <p:spPr>
          <a:xfrm>
            <a:off x="493031" y="2971800"/>
            <a:ext cx="3017520" cy="82296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&amp; IDEs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· LangChain · editors</a:t>
            </a:r>
          </a:p>
        </p:txBody>
      </p:sp>
      <p:sp>
        <p:nvSpPr>
          <p:cNvPr id="7" name="Text"/>
          <p:cNvSpPr/>
          <p:nvPr/>
        </p:nvSpPr>
        <p:spPr>
          <a:xfrm>
            <a:off x="493031" y="3977600"/>
            <a:ext cx="3017520" cy="82296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clients · A2A delegation</a:t>
            </a:r>
          </a:p>
        </p:txBody>
      </p:sp>
      <p:sp>
        <p:nvSpPr>
          <p:cNvPr id="8" name="Text"/>
          <p:cNvSpPr/>
          <p:nvPr/>
        </p:nvSpPr>
        <p:spPr>
          <a:xfrm>
            <a:off x="4617720" y="1896408"/>
            <a:ext cx="3017520" cy="2834640"/>
          </a:xfrm>
          <a:prstGeom prst="roundRect">
            <a:avLst>
              <a:gd name="adj" fmla="val 64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 LLM Gateway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Standards-compatible endpoint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Mask · Route · Audit</a:t>
            </a:r>
          </a:p>
        </p:txBody>
      </p:sp>
      <p:sp>
        <p:nvSpPr>
          <p:cNvPr id="9" name="Text"/>
          <p:cNvSpPr/>
          <p:nvPr/>
        </p:nvSpPr>
        <p:spPr>
          <a:xfrm>
            <a:off x="4563963" y="4830640"/>
            <a:ext cx="30175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groups &amp; roles</a:t>
            </a:r>
          </a:p>
        </p:txBody>
      </p:sp>
      <p:sp>
        <p:nvSpPr>
          <p:cNvPr id="10" name="Text"/>
          <p:cNvSpPr/>
          <p:nvPr/>
        </p:nvSpPr>
        <p:spPr>
          <a:xfrm>
            <a:off x="4563963" y="5260640"/>
            <a:ext cx="3017520" cy="82296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single sign-on (SSO) · group sync to RBAC · conditional access honoured</a:t>
            </a:r>
          </a:p>
        </p:txBody>
      </p:sp>
      <p:sp>
        <p:nvSpPr>
          <p:cNvPr id="11" name="Text"/>
          <p:cNvSpPr/>
          <p:nvPr/>
        </p:nvSpPr>
        <p:spPr>
          <a:xfrm>
            <a:off x="8794305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MODELS, TOOLS &amp; AGENTS</a:t>
            </a:r>
          </a:p>
        </p:txBody>
      </p:sp>
      <p:sp>
        <p:nvSpPr>
          <p:cNvPr id="12" name="Text"/>
          <p:cNvSpPr/>
          <p:nvPr/>
        </p:nvSpPr>
        <p:spPr>
          <a:xfrm>
            <a:off x="8794305" y="1966000"/>
            <a:ext cx="3017520" cy="82296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providers</a:t>
            </a:r>
          </a:p>
          <a:p>
            <a:pPr algn="ctr">
              <a:lnSpc>
                <a:spcPct val="108000"/>
              </a:lnSpc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OpenAI · Gemini · SCX · Mistral · DeepSeek · Groq · xAI</a:t>
            </a:r>
          </a:p>
        </p:txBody>
      </p:sp>
      <p:sp>
        <p:nvSpPr>
          <p:cNvPr id="13" name="Text"/>
          <p:cNvSpPr/>
          <p:nvPr/>
        </p:nvSpPr>
        <p:spPr>
          <a:xfrm>
            <a:off x="8794305" y="2971800"/>
            <a:ext cx="3017520" cy="82296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services &amp; connectors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83+ governed connectors. API / MCP supported.</a:t>
            </a:r>
          </a:p>
        </p:txBody>
      </p:sp>
      <p:sp>
        <p:nvSpPr>
          <p:cNvPr id="14" name="Text"/>
          <p:cNvSpPr/>
          <p:nvPr/>
        </p:nvSpPr>
        <p:spPr>
          <a:xfrm>
            <a:off x="8794305" y="3977600"/>
            <a:ext cx="3017520" cy="82296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AI agents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pre-built agents via A2A</a:t>
            </a:r>
          </a:p>
        </p:txBody>
      </p:sp>
      <p:sp>
        <p:nvSpPr>
          <p:cNvPr id="15" name="Text"/>
          <p:cNvSpPr/>
          <p:nvPr/>
        </p:nvSpPr>
        <p:spPr>
          <a:xfrm>
            <a:off x="3547622" y="21260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6" name="Text"/>
          <p:cNvSpPr/>
          <p:nvPr/>
        </p:nvSpPr>
        <p:spPr>
          <a:xfrm>
            <a:off x="7772400" y="21260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7" name="Text"/>
          <p:cNvSpPr/>
          <p:nvPr/>
        </p:nvSpPr>
        <p:spPr>
          <a:xfrm>
            <a:off x="3547622" y="31318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</a:t>
            </a:r>
          </a:p>
        </p:txBody>
      </p:sp>
      <p:sp>
        <p:nvSpPr>
          <p:cNvPr id="18" name="Text"/>
          <p:cNvSpPr/>
          <p:nvPr/>
        </p:nvSpPr>
        <p:spPr>
          <a:xfrm>
            <a:off x="7772400" y="31318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routed</a:t>
            </a:r>
          </a:p>
        </p:txBody>
      </p:sp>
      <p:sp>
        <p:nvSpPr>
          <p:cNvPr id="19" name="Text"/>
          <p:cNvSpPr/>
          <p:nvPr/>
        </p:nvSpPr>
        <p:spPr>
          <a:xfrm>
            <a:off x="3547622" y="41376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20" name="Text"/>
          <p:cNvSpPr/>
          <p:nvPr/>
        </p:nvSpPr>
        <p:spPr>
          <a:xfrm>
            <a:off x="7772400" y="41376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21" name="Text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</p:spPr>
      </p:pic>
      <p:sp>
        <p:nvSpPr>
          <p:cNvPr id="23" name="Can 22">
            <a:extLst>
              <a:ext uri="{FF2B5EF4-FFF2-40B4-BE49-F238E27FC236}">
                <a16:creationId xmlns:a16="http://schemas.microsoft.com/office/drawing/2014/main" id="{C188D126-6465-6FD9-DDA3-23A9DDF5BC7A}"/>
              </a:ext>
            </a:extLst>
          </p:cNvPr>
          <p:cNvSpPr/>
          <p:nvPr/>
        </p:nvSpPr>
        <p:spPr>
          <a:xfrm>
            <a:off x="5013877" y="4040090"/>
            <a:ext cx="833175" cy="493836"/>
          </a:xfrm>
          <a:prstGeom prst="can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Logs</a:t>
            </a:r>
          </a:p>
        </p:txBody>
      </p:sp>
      <p:sp>
        <p:nvSpPr>
          <p:cNvPr id="24" name="Can 23">
            <a:extLst>
              <a:ext uri="{FF2B5EF4-FFF2-40B4-BE49-F238E27FC236}">
                <a16:creationId xmlns:a16="http://schemas.microsoft.com/office/drawing/2014/main" id="{97A5F756-D037-799A-D8D7-F9635876C122}"/>
              </a:ext>
            </a:extLst>
          </p:cNvPr>
          <p:cNvSpPr/>
          <p:nvPr/>
        </p:nvSpPr>
        <p:spPr>
          <a:xfrm>
            <a:off x="6344950" y="4040090"/>
            <a:ext cx="833175" cy="493836"/>
          </a:xfrm>
          <a:prstGeom prst="can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Logs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014399-3E06-D683-DECE-D984F00E9DAD}"/>
              </a:ext>
            </a:extLst>
          </p:cNvPr>
          <p:cNvSpPr txBox="1"/>
          <p:nvPr/>
        </p:nvSpPr>
        <p:spPr>
          <a:xfrm>
            <a:off x="4981279" y="4800560"/>
            <a:ext cx="2283345" cy="307777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OAuth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B699FC-A68D-A5AB-19DB-7BC2CED556B7}"/>
              </a:ext>
            </a:extLst>
          </p:cNvPr>
          <p:cNvSpPr txBox="1"/>
          <p:nvPr/>
        </p:nvSpPr>
        <p:spPr>
          <a:xfrm>
            <a:off x="7725712" y="1622014"/>
            <a:ext cx="1006808" cy="3323987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OpenAI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Standards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71321E-56D2-A6A7-61A4-26818D0B3E96}"/>
              </a:ext>
            </a:extLst>
          </p:cNvPr>
          <p:cNvSpPr txBox="1"/>
          <p:nvPr/>
        </p:nvSpPr>
        <p:spPr>
          <a:xfrm>
            <a:off x="3572336" y="1622014"/>
            <a:ext cx="979626" cy="3323987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OpenAI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Standards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governance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controls enforced at every layer of AI interaction.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4767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080260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0472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management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Organisation-wide and team-level rules — which AI tools can be used, by whom, and under what conditions.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194767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08" y="2080260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control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2651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to agents, models and tools. SSO / LDAP integration mirrors your org structure.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3880" y="169164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58200" y="194767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788" y="2080260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1432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logging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58200" y="2651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Tamper-proof, encrypted logs of every interaction for compliance, forensics and governance reporting.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402336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4411980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90472" y="4279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 &amp; PII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77240" y="4983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 and redaction of PII, credentials and sensitive data before it reaches any model.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7720" y="427939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308" y="4411980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30952" y="4279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cost limits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17720" y="4983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and per-team token budgets and rate limits. Prevent runaway spend; prioritise critical workloads.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83880" y="402336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58200" y="427939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0788" y="4411980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71432" y="4279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tool routing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58200" y="4983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requests by sensitivity, cost, latency or compliance requirement — allow-lists enforced centrally.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B1FAD9F3-8C29-7B39-43E9-C142EF8C7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Firewall: active threat protection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155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and response passes through a layered inspection pipeline — blocking prompt-level attacks, harmful content and data exfiltration in real time.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920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43000" y="232257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block attempts to hijack model behaviour or bypass system instructions.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01168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9440" y="19202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detection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949440" y="232257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identification of attempts to circumvent safety guidelines and role restrictions.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9300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4015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43000" y="380390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scanning of prompts and responses to stop harmful or policy-violating content.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493008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0" y="34015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scanning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949440" y="380390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response inspected before delivery — no sensitive data hidden inside model outputs.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974336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48828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143000" y="52852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threat-intel feeds continuously update detection rules against emerging attack patterns.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974336"/>
            <a:ext cx="384048" cy="3840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49440" y="48828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input detection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949440" y="52852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encoded, obfuscated or adversarially crafted inputs engineered to evade filters.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12713908-2619-1135-BCBE-660075618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ApiSpi protects every interaction</a:t>
            </a:r>
          </a:p>
        </p:txBody>
      </p:sp>
      <p:sp>
        <p:nvSpPr>
          <p:cNvPr id="3" name="Text"/>
          <p:cNvSpPr/>
          <p:nvPr/>
        </p:nvSpPr>
        <p:spPr>
          <a:xfrm>
            <a:off x="502920" y="1143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and response passes through the gateway's inspection pipeline — identity-checked against Entra ID, masked, policy-enforced and logged.</a:t>
            </a:r>
          </a:p>
        </p:txBody>
      </p:sp>
      <p:sp>
        <p:nvSpPr>
          <p:cNvPr id="4" name="Text"/>
          <p:cNvSpPr/>
          <p:nvPr/>
        </p:nvSpPr>
        <p:spPr>
          <a:xfrm>
            <a:off x="502920" y="1966000"/>
            <a:ext cx="1950000" cy="170000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09728" tIns="91440" rIns="109728" bIns="91440" rtlCol="0" anchor="ctr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SSO verifies the user; RBAC checks role &amp; permissions</a:t>
            </a:r>
          </a:p>
        </p:txBody>
      </p:sp>
      <p:sp>
        <p:nvSpPr>
          <p:cNvPr id="5" name="Text"/>
          <p:cNvSpPr/>
          <p:nvPr/>
        </p:nvSpPr>
        <p:spPr>
          <a:xfrm>
            <a:off x="2452920" y="2564540"/>
            <a:ext cx="35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6" name="Text"/>
          <p:cNvSpPr/>
          <p:nvPr/>
        </p:nvSpPr>
        <p:spPr>
          <a:xfrm>
            <a:off x="2811960" y="1966000"/>
            <a:ext cx="1950000" cy="170000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09728" tIns="91440" rIns="109728" bIns="91440" rtlCol="0" anchor="ctr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mask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credentials and secrets detected and redacted</a:t>
            </a:r>
          </a:p>
        </p:txBody>
      </p:sp>
      <p:sp>
        <p:nvSpPr>
          <p:cNvPr id="7" name="Text"/>
          <p:cNvSpPr/>
          <p:nvPr/>
        </p:nvSpPr>
        <p:spPr>
          <a:xfrm>
            <a:off x="4761960" y="2564540"/>
            <a:ext cx="35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8" name="Text"/>
          <p:cNvSpPr/>
          <p:nvPr/>
        </p:nvSpPr>
        <p:spPr>
          <a:xfrm>
            <a:off x="5121000" y="1966000"/>
            <a:ext cx="1950000" cy="170000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09728" tIns="91440" rIns="109728" bIns="91440" rtlCol="0" anchor="ctr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policy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allow-lists, token budgets, time-of-day windows</a:t>
            </a:r>
          </a:p>
        </p:txBody>
      </p:sp>
      <p:sp>
        <p:nvSpPr>
          <p:cNvPr id="9" name="Text"/>
          <p:cNvSpPr/>
          <p:nvPr/>
        </p:nvSpPr>
        <p:spPr>
          <a:xfrm>
            <a:off x="7071000" y="2564540"/>
            <a:ext cx="35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0" name="Text"/>
          <p:cNvSpPr/>
          <p:nvPr/>
        </p:nvSpPr>
        <p:spPr>
          <a:xfrm>
            <a:off x="7430040" y="1966000"/>
            <a:ext cx="1950000" cy="170000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09728" tIns="91440" rIns="109728" bIns="91440" rtlCol="0" anchor="ctr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Firewall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Prompt-injection, jailbreak and harmful-content defence</a:t>
            </a:r>
          </a:p>
        </p:txBody>
      </p:sp>
      <p:sp>
        <p:nvSpPr>
          <p:cNvPr id="11" name="Text"/>
          <p:cNvSpPr/>
          <p:nvPr/>
        </p:nvSpPr>
        <p:spPr>
          <a:xfrm>
            <a:off x="9380040" y="2564540"/>
            <a:ext cx="35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2" name="Text"/>
          <p:cNvSpPr/>
          <p:nvPr/>
        </p:nvSpPr>
        <p:spPr>
          <a:xfrm>
            <a:off x="9739080" y="1966000"/>
            <a:ext cx="1950000" cy="170000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09728" tIns="91440" rIns="109728" bIns="91440" rtlCol="0" anchor="ctr"/>
          <a:lstStyle/>
          <a:p>
            <a:pPr marL="0" indent="0" algn="ctr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execute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9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Sanitised request sent to the approved model or tool</a:t>
            </a:r>
          </a:p>
        </p:txBody>
      </p:sp>
      <p:sp>
        <p:nvSpPr>
          <p:cNvPr id="13" name="Text"/>
          <p:cNvSpPr/>
          <p:nvPr/>
        </p:nvSpPr>
        <p:spPr>
          <a:xfrm>
            <a:off x="502920" y="4023360"/>
            <a:ext cx="11186160" cy="731520"/>
          </a:xfrm>
          <a:prstGeom prst="roundRect">
            <a:avLst>
              <a:gd name="adj" fmla="val 6400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Response path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output is scanned before delivery — sensitive data, policy violations and harmful content are blocked or masked in the reply, including streaming.</a:t>
            </a:r>
          </a:p>
        </p:txBody>
      </p:sp>
      <p:sp>
        <p:nvSpPr>
          <p:cNvPr id="14" name="Text"/>
          <p:cNvSpPr/>
          <p:nvPr/>
        </p:nvSpPr>
        <p:spPr>
          <a:xfrm>
            <a:off x="502920" y="4937760"/>
            <a:ext cx="11186160" cy="731520"/>
          </a:xfrm>
          <a:prstGeom prst="roundRect">
            <a:avLst>
              <a:gd name="adj" fmla="val 64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 wrap="square" lIns="137160" tIns="91440" rIns="137160" bIns="91440" rtlCol="0" anchor="ctr"/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— allow, mask, warn or block — is recorded with user, prompt, policy rationale, model and cost. Real-time alerting and per-team accounting.</a:t>
            </a:r>
          </a:p>
        </p:txBody>
      </p:sp>
      <p:sp>
        <p:nvSpPr>
          <p:cNvPr id="15" name="Text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policy enforcement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155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request passes through a five-stage inspection pipeline. Every verdict — allow, mask, warn or block — is logged with its full rationale.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" y="2359152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0664" y="30358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0664" y="3703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 via SSO / LDAP. Check role-based permissions for the requested agent, model or tool.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210312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54096" y="2359152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54096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54096" y="30358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54096" y="3703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prompt content for PII, credentials and confidential data using pattern matching and ML classifiers.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9784" y="210312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67528" y="2359152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6752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67528" y="30358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policy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67528" y="3703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org-wide and team rules: block, mask, redact or warn. Enforce model allow-lists and rate limits.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43216" y="210312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80960" y="2359152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30358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execute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80960" y="3703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the sanitised request to the approved model or tool, applying cost and latency routing rules.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56648" y="2103120"/>
            <a:ext cx="2121408" cy="3291840"/>
          </a:xfrm>
          <a:prstGeom prst="roundRect">
            <a:avLst>
              <a:gd name="adj" fmla="val 3879"/>
            </a:avLst>
          </a:prstGeom>
          <a:solidFill>
            <a:srgbClr val="FBEDD5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994392" y="2359152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94392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994392" y="30358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log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94392" y="37033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full interaction to the immutable audit store — prompt, response, metadata — and trigger alerts.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design: approval workflows, WARN verdicts, an explicit override log and a platform-wide kill switch.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9317FC64-5A4D-2F8C-E928-6E7730DAE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connector and MCP ecosystem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connectors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7249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files, CRM, cloud and Australian services — every one governed through the proxy.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5727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90288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AI agents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90288" y="27249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agents that chain connectors into multi-step workflows, with autonomy controls.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83880" y="137160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0" y="15727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30768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prompts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30768" y="27249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prompt library, managed and access-controlled like any other resource.</a:t>
            </a:r>
            <a:endParaRPr lang="en-US" sz="11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23360"/>
            <a:ext cx="310896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3977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— </a:t>
            </a:r>
            <a:r>
              <a:rPr lang="en-US" sz="13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endpoint and MCP-aware gateway — existing tools and workflows connect without code changes.</a:t>
            </a:r>
            <a:endParaRPr lang="en-US" sz="13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77316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472744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</a:t>
            </a:r>
            <a:r>
              <a:rPr lang="en-US" sz="13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multiple connectors and services so tasks complete across systems, including multi-step processes over time.</a:t>
            </a:r>
            <a:endParaRPr lang="en-US" sz="13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52297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54772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 — </a:t>
            </a:r>
            <a:r>
              <a:rPr lang="en-US" sz="13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connectors and MCP services built to requirement and added to the governed catalogue.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90E9DC77-F9DD-ACD0-05D0-4522F893D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 for every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Gateway is one OpenAI-compatible endpoint for every model — with governance guardrails on every request.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4767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2080260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0472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chat completions with streaming. Works with any OpenAI SDK, LangChain or editor extension — no code changes.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194767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308" y="2080260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routing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2651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routes to Anthropic, OpenAI, Google Gemini, Mistral, DeepSeek, Groq, xAI, Qwen and more.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3880" y="169164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58200" y="194767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788" y="2080260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1432" y="19476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auto-injected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58200" y="26517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tools are injected as functions on every request — no separate orchestration code required.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402336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4411980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90472" y="4279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endpoint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77240" y="4983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doubles as an MCP server — connector tools available to Claude Desktop, Claude Code and any MCP client.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7720" y="427939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308" y="4411980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30952" y="4279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agent delegation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17720" y="4983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whole tasks to agents over the open Agent2Agent protocol — synchronous or queued, with lifecycle reporting.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83880" y="402336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58200" y="427939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0788" y="4411980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71432" y="4279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built in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58200" y="4983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 and monthly token budgets, time-of-day windows, keyword blocking and prompt-injection scanning per key.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B1FAD9F3-8C29-7B39-43E9-C142EF8C7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model, one key — deployed your way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49808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7249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OpenAI, Google, Mistral, DeepSeek, Groq, xAI and Qwen — all behind one endpoint.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5727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90288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for everything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90288" y="27249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gateway key covers chat completions, MCP connector tools and A2A agent delegation.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83880" y="137160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0" y="15727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30768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required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30768" y="272491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OpenAI SDK, LangChain app or editor extension at the gateway and keep the rest.</a:t>
            </a:r>
            <a:endParaRPr lang="en-US" sz="11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23360"/>
            <a:ext cx="310896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51560" y="3977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SaaS, available now — </a:t>
            </a:r>
            <a:r>
              <a:rPr lang="en-US" sz="13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with zero setup and managed upgrades — generate an API key and be running in seconds.</a:t>
            </a:r>
            <a:endParaRPr lang="en-US" sz="13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7316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472744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appliance, coming soon — </a:t>
            </a:r>
            <a:r>
              <a:rPr lang="en-US" sz="13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for data residency, air-gapped or regulatory requirements — the same gateway, inside your perimeter.</a:t>
            </a:r>
            <a:endParaRPr lang="en-US" sz="13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52297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1560" y="547725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free week — </a:t>
            </a:r>
            <a:r>
              <a:rPr lang="en-US" sz="13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generate a key and trial the gateway against your existing tools — free for the first week.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90E9DC77-F9DD-ACD0-05D0-4522F893D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for every team and industry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15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ApiSpi's controls apply wherever AI meets sensitive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2996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751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670048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model restrictions for trading desks. Prevent MNPI entering AI prompts, with a full audit trail for regulators.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2996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19751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617720" y="2670048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deployment with data-residency controls and classification-aware access for sensitive environments.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83880" y="173736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02996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52560" y="19751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458200" y="2670048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AI use on privileged documents. Log all AI-assisted drafting for counsel review and matter billing.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406908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6168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3068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77240" y="5001768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patient data out of AI prompts and maintain audit logs for clinical AI use under privacy obligations.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43400" y="406908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361688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12080" y="43068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&amp; national security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617720" y="5001768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or sovereign deployment, model allow-listing and classification-aware routing for sensitive programmes.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183880" y="406908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361688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52560" y="43068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8458200" y="5001768"/>
            <a:ext cx="3108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AI governance for 10,000+ users — chargeback reporting, shadow-AI discovery and policy at scale.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F192D1EB-8672-B45D-B143-9E4DBD999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i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government</a:t>
            </a:r>
          </a:p>
        </p:txBody>
      </p:sp>
      <p:sp>
        <p:nvSpPr>
          <p:cNvPr id="3" name="Text"/>
          <p:cNvSpPr/>
          <p:nvPr/>
        </p:nvSpPr>
        <p:spPr>
          <a:xfrm>
            <a:off x="502920" y="1078992"/>
            <a:ext cx="10972800" cy="4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deployment scenarios — demonstrating how ApiSpi's controls apply; not presented as customer references.</a:t>
            </a:r>
          </a:p>
        </p:txBody>
      </p:sp>
      <p:sp>
        <p:nvSpPr>
          <p:cNvPr id="4" name="Text"/>
          <p:cNvSpPr/>
          <p:nvPr/>
        </p:nvSpPr>
        <p:spPr>
          <a:xfrm>
            <a:off x="502920" y="1850000"/>
            <a:ext cx="5455920" cy="370000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 wrap="square" lIns="228600" tIns="228600" rIns="228600" bIns="182880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 ·  COMMONWEALTH DEPARTMENT</a:t>
            </a:r>
          </a:p>
          <a:p>
            <a:pPr marL="0" indent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whole-of-agency AI adoption</a:t>
            </a:r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staff want generative AI for everyday work — but shadow AI, no audit trail and no PII protection stand in the way.</a:t>
            </a:r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ApiSpi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access routed through the proxy on existing SSO. Per-division model allow-lists; PII and classified markings masked in-line; every interaction logged; CISO dashboards for shadow-AI discovery, alerting and per-division token budgets.</a:t>
            </a:r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Whole-of-department rollout in days via the OpenAI-compatible endpoint; 100% of interactions auditable; nil detected data-loss incidents; spend visible and capped per division.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— access governance · identity &amp; role-based control · audit logging · cost tracking · integration with existing systems</a:t>
            </a:r>
          </a:p>
        </p:txBody>
      </p:sp>
      <p:sp>
        <p:nvSpPr>
          <p:cNvPr id="5" name="Text"/>
          <p:cNvSpPr/>
          <p:nvPr/>
        </p:nvSpPr>
        <p:spPr>
          <a:xfrm>
            <a:off x="6233160" y="1850000"/>
            <a:ext cx="5455920" cy="370000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 wrap="square" lIns="228600" tIns="228600" rIns="228600" bIns="182880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 ·  SHARED-SERVICES HUB</a:t>
            </a:r>
          </a:p>
          <a:p>
            <a:pPr marL="0" indent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MCP gateway for multi-agency agentic workflows</a:t>
            </a:r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should triage correspondence, retrieve records and draft responses across several small agencies — with each agency keeping control and every action attributable.</a:t>
            </a:r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ApiSpi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 as the MCP gateway: a curated connector catalogue, per-agency policies, human-in-the-loop approval before any outbound action, an override log and per-agency kill switch, and sandbox testing before staged promotion.</a:t>
            </a:r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swivel-chair tasks completed by governed agents; agencies keep autonomy on shared infrastructure; a complete audit trail supports assurance and FOI.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— connector &amp; MCP catalogue · multi-step orchestration · human-in-the-loop safeguards · safe testing environments · agency-level governance</a:t>
            </a:r>
          </a:p>
        </p:txBody>
      </p:sp>
      <p:sp>
        <p:nvSpPr>
          <p:cNvPr id="6" name="Text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i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regulated industries</a:t>
            </a:r>
          </a:p>
        </p:txBody>
      </p:sp>
      <p:sp>
        <p:nvSpPr>
          <p:cNvPr id="3" name="Text"/>
          <p:cNvSpPr/>
          <p:nvPr/>
        </p:nvSpPr>
        <p:spPr>
          <a:xfrm>
            <a:off x="502920" y="1078992"/>
            <a:ext cx="10972800" cy="4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deployment scenarios — demonstrating how ApiSpi's controls apply; not presented as customer references.</a:t>
            </a:r>
          </a:p>
        </p:txBody>
      </p:sp>
      <p:sp>
        <p:nvSpPr>
          <p:cNvPr id="4" name="Text"/>
          <p:cNvSpPr/>
          <p:nvPr/>
        </p:nvSpPr>
        <p:spPr>
          <a:xfrm>
            <a:off x="502920" y="1850000"/>
            <a:ext cx="5455920" cy="370000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 wrap="square" lIns="228600" tIns="228600" rIns="228600" bIns="182880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  ·  FINANCIAL SERVICES</a:t>
            </a:r>
          </a:p>
          <a:p>
            <a:pPr marL="0" indent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restrictions and MNPI protection</a:t>
            </a:r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operations teams want AI, but material non-public information must never reach external models — and controls must be evidenced to regulators.</a:t>
            </a:r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ApiSpi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allow-lists enforced by desk — trading-adjacent teams restricted to onshore, firm-approved models. MNPI patterns, client identifiers and account data masked or blocked in-line; outputs scanned; every verdict logged with rationale; spend mapped to business units.</a:t>
            </a:r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Firm-wide adoption without a per-use-case exemption process; demonstrable MNPI controls; regulator-ready audit extracts in minutes rather than weeks.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— attribute-driven access control · auditable policy verdicts · compliance &amp; cost tracking · data protection to security requirements</a:t>
            </a:r>
          </a:p>
        </p:txBody>
      </p:sp>
      <p:sp>
        <p:nvSpPr>
          <p:cNvPr id="5" name="Text"/>
          <p:cNvSpPr/>
          <p:nvPr/>
        </p:nvSpPr>
        <p:spPr>
          <a:xfrm>
            <a:off x="6233160" y="1850000"/>
            <a:ext cx="5455920" cy="3700000"/>
          </a:xfrm>
          <a:prstGeom prst="roundRect">
            <a:avLst>
              <a:gd name="adj" fmla="val 3913"/>
            </a:avLst>
          </a:prstGeom>
          <a:solidFill>
            <a:srgbClr val="FAF6EC"/>
          </a:solidFill>
          <a:ln w="12700">
            <a:solidFill>
              <a:srgbClr val="ECE4D1"/>
            </a:solidFill>
            <a:prstDash val="solid"/>
          </a:ln>
        </p:spPr>
        <p:txBody>
          <a:bodyPr wrap="square" lIns="228600" tIns="228600" rIns="228600" bIns="182880" rtlCol="0" anchor="t"/>
          <a:lstStyle/>
          <a:p>
            <a:pPr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4  ·  HEALTHCARE PROVIDER NETWORK</a:t>
            </a:r>
          </a:p>
          <a:p>
            <a:pPr marL="0" indent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patient information in clinical AI use</a:t>
            </a:r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and administrators want AI for discharge summaries, correspondence and rostering — but identifiable patient data must not reach external models, and use must be auditable under the Privacy Act.</a:t>
            </a:r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ApiSpi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identifiers, Medicare numbers and record references redacted or tokenised at the gateway. Role-based clinical, admin and research policies; approval workflows for high-risk uses; right-to-erasure for AI records; onshore, region-locked hosting.</a:t>
            </a:r>
          </a:p>
          <a:p>
            <a:pPr marL="0" indent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— </a:t>
            </a: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with no identifiable data leaving the environment; privacy incidents prevented at the gateway, not investigated after the fact; complete clinical auditability.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— data masking &amp; PII protection · identity-based access · human-in-the-loop approval · audit logging · onshore data residency</a:t>
            </a:r>
          </a:p>
        </p:txBody>
      </p:sp>
      <p:sp>
        <p:nvSpPr>
          <p:cNvPr id="6" name="Text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ApiSpi for AI governance?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CAIO needs. Nothing that slows development teams down.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81328"/>
          <a:ext cx="10561320" cy="4242816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B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solutions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in-house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of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/ data masking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ML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&amp; compliance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tooling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&amp; tool 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/ RBAC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&amp; connector catalogue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per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83+ governed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3DD5CC-22FF-16D6-6C26-ADAAB3503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by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155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kept safe, accessed only by authorised users, and properly monitored — in line with Australian Government security and privacy policies.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938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4712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data residency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24712" y="22585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Hosted, stored and processed in Australia with region-locked routing. No offshore transfer.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29384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31152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frameworks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931152" y="22585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against the ISM, PSPF and Essential Eight; IRAP assessment pathway supported for agency ATO processes.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92424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24712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124712" y="37216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and redaction, prompt sanitisation, encryption, and a no-training-on-your-data guarantee.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392424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31152" y="3337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privacy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931152" y="37216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and SOC 2 Type II aligned operations; Privacy Act controls including right-to-erasure for AI records.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21208" y="4837176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92861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24712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everything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1124712" y="51846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tamper-evident logs of every interaction support assurance, FOI and incident response.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855464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31152" y="4800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your data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931152" y="51846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ownership retained — with clear shared-responsibility governance between platform and customer.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</a:t>
            </a: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apispi.com  |  Build &amp; deploy AI agents, governed</a:t>
            </a:r>
            <a:endParaRPr lang="en-US" sz="900" dirty="0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8E79FD4B-0D09-D814-5545-F75D92BE5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13" y="645949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AI before AI governs you.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5146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 gives your enterprise the control plane it needs to adopt AI safely, compliantly and at scale —</a:t>
            </a:r>
            <a:endParaRPr lang="en-US" sz="17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onshore, auditable, and running in hours, not months.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143000" y="3749040"/>
            <a:ext cx="3154680" cy="1600200"/>
          </a:xfrm>
          <a:prstGeom prst="roundRect">
            <a:avLst>
              <a:gd name="adj" fmla="val 5143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99032" y="3950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9032" y="437083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policy pipeline, AI firewall, MCP gateway and audit controls live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3749040"/>
            <a:ext cx="3154680" cy="1600200"/>
          </a:xfrm>
          <a:prstGeom prst="roundRect">
            <a:avLst>
              <a:gd name="adj" fmla="val 5143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8032" y="3950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trial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828032" y="437083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pre-built agents and connectors from the curated catalogue in minutes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0" y="3749040"/>
            <a:ext cx="3154680" cy="1600200"/>
          </a:xfrm>
          <a:prstGeom prst="roundRect">
            <a:avLst>
              <a:gd name="adj" fmla="val 5143"/>
            </a:avLst>
          </a:prstGeom>
          <a:solidFill>
            <a:srgbClr val="1C1810"/>
          </a:solidFill>
          <a:ln w="12700">
            <a:solidFill>
              <a:srgbClr val="3A2F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57032" y="3950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confidence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57032" y="437083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org-wide policies, SSO / RBAC and cost controls across every team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apispi.com   |   contact@apispi.com</a:t>
            </a:r>
            <a:endParaRPr lang="en-US" sz="1400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C3A78E2-CAF8-9BC9-3958-A8E0ED730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437" y="5852159"/>
            <a:ext cx="243841" cy="27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2676</Words>
  <Application>Microsoft Macintosh PowerPoint</Application>
  <PresentationFormat>Widescreen</PresentationFormat>
  <Paragraphs>333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Narinder Bhandari</cp:lastModifiedBy>
  <cp:revision>12</cp:revision>
  <dcterms:created xsi:type="dcterms:W3CDTF">2026-07-20T22:44:43Z</dcterms:created>
  <dcterms:modified xsi:type="dcterms:W3CDTF">2026-07-23T04:02:12Z</dcterms:modified>
</cp:coreProperties>
</file>